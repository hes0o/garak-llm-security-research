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d89411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d89411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d89411d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d89411d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d89411d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d89411d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d89411d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5d89411d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5d89411d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5d89411d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Otonom Yapay Zekâ Güvenlik Taraması:</a:t>
            </a:r>
            <a:r>
              <a:rPr i="1" lang="en" sz="3700">
                <a:solidFill>
                  <a:srgbClr val="FF0000"/>
                </a:solidFill>
              </a:rPr>
              <a:t> NVIDIA Garak</a:t>
            </a:r>
            <a:endParaRPr i="1" sz="3700">
              <a:solidFill>
                <a:srgbClr val="FF00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Hassan Chawa AI &amp; CyperSecurity 05 </a:t>
            </a:r>
            <a:r>
              <a:rPr lang="en" sz="1800">
                <a:solidFill>
                  <a:schemeClr val="dk1"/>
                </a:solidFill>
              </a:rPr>
              <a:t>İleri Teknoloji Araştırması ve </a:t>
            </a:r>
            <a:r>
              <a:rPr lang="en" sz="1200">
                <a:solidFill>
                  <a:schemeClr val="dk1"/>
                </a:solidFill>
              </a:rPr>
              <a:t>Canlı Demo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8761D"/>
                </a:solidFill>
              </a:rPr>
              <a:t>LLM'lerin Getirdiği Yeni Güvenlik Riskleri</a:t>
            </a:r>
            <a:endParaRPr sz="2300">
              <a:solidFill>
                <a:srgbClr val="38761D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Geleneksel siber güvenlik araçları (SAST, DAST, ağ tarayıcıları) yapay zekâ modellerindeki açıkları yakalayamaz.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Şirketler yapay zekâyı entegre ederken tamamen yeni bir tehdit yüzeyiyle karşılaşıyor: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Prompt Injection:</a:t>
            </a:r>
            <a:r>
              <a:rPr lang="en" sz="1900">
                <a:solidFill>
                  <a:schemeClr val="dk1"/>
                </a:solidFill>
              </a:rPr>
              <a:t> Modele gizli komutlar vererek filtreleri aşma.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Veri Sızıntısı (Data Leakage):</a:t>
            </a:r>
            <a:r>
              <a:rPr lang="en" sz="1900">
                <a:solidFill>
                  <a:schemeClr val="dk1"/>
                </a:solidFill>
              </a:rPr>
              <a:t> Modelin eğitildiği hassas verileri dışarı sızdırması.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Jailbreaking:</a:t>
            </a:r>
            <a:r>
              <a:rPr lang="en" sz="1900">
                <a:solidFill>
                  <a:schemeClr val="dk1"/>
                </a:solidFill>
              </a:rPr>
              <a:t> Güvenlik bariyerlerini manipüle ederek zehirli (toxic) içerik ürettirme.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NVIDIA Garak ile Otonom Zafiyet Taraması</a:t>
            </a:r>
            <a:endParaRPr sz="2400">
              <a:solidFill>
                <a:srgbClr val="38761D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Açık kaynak kodlu, LLM'lere özel bir zafiyet tarama (vulnerability scanner) aracıdır.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Yapay zekâ ekosisteminin </a:t>
            </a:r>
            <a:r>
              <a:rPr b="1" lang="en" sz="2000">
                <a:solidFill>
                  <a:schemeClr val="dk1"/>
                </a:solidFill>
              </a:rPr>
              <a:t>"Nmap"i veya "Metasploit"i</a:t>
            </a:r>
            <a:r>
              <a:rPr lang="en" sz="2000">
                <a:solidFill>
                  <a:schemeClr val="dk1"/>
                </a:solidFill>
              </a:rPr>
              <a:t> olarak tanımlanabilir.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Güvenlik uzmanlarının günlerce süren manuel "Red-Teaming" (sızma testi) süreçlerini otomatikleştirir.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Saniyeler içinde yüzlerce zararlı vektörü test ederek modelin güvenilirliğini ölçer.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Garak Sistem Mimarisi</a:t>
            </a:r>
            <a:endParaRPr sz="2400">
              <a:solidFill>
                <a:srgbClr val="38761D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Sistem birbiriyle konuşan 3 ana eklenti (plugin) üzerinden çalışır: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1. Generator (Üreteç):</a:t>
            </a:r>
            <a:r>
              <a:rPr lang="en">
                <a:solidFill>
                  <a:schemeClr val="dk1"/>
                </a:solidFill>
              </a:rPr>
              <a:t> Hedef LLM'e bağlanır. Çok esnektir (Hugging Face, OpenAI, AWS Bedrock veya yerel API'ler).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2. Probe (Prob):</a:t>
            </a:r>
            <a:r>
              <a:rPr lang="en">
                <a:solidFill>
                  <a:schemeClr val="dk1"/>
                </a:solidFill>
              </a:rPr>
              <a:t> Modele sızmak için özel olarak tasarlanmış saldırı komutlarını (örneğin encoding enjeksiyonları) fırlatır.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3. Detector (Dedektör):</a:t>
            </a:r>
            <a:r>
              <a:rPr lang="en">
                <a:solidFill>
                  <a:schemeClr val="dk1"/>
                </a:solidFill>
              </a:rPr>
              <a:t> Modelin verdiği cevabı analiz eder ve saldırının atlatılıp atlatılamadığını (PASS / FAIL) raporlar.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74E13"/>
                </a:solidFill>
              </a:rPr>
              <a:t>İzole Ortamda Test ve Canlı Demo</a:t>
            </a:r>
            <a:endParaRPr sz="2400">
              <a:solidFill>
                <a:srgbClr val="274E13"/>
              </a:solidFill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200">
                <a:solidFill>
                  <a:schemeClr val="dk1"/>
                </a:solidFill>
              </a:rPr>
              <a:t>Mock Generator (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test.Repeat</a:t>
            </a:r>
            <a:r>
              <a:rPr lang="en" sz="1200">
                <a:solidFill>
                  <a:schemeClr val="dk1"/>
                </a:solidFill>
              </a:rPr>
              <a:t>) ve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encoding</a:t>
            </a:r>
            <a:r>
              <a:rPr lang="en" sz="1200">
                <a:solidFill>
                  <a:schemeClr val="dk1"/>
                </a:solidFill>
              </a:rPr>
              <a:t> probları (Base64, ROT13 vb.) kullanılarak tarama başarıyla tamamlanmıştır.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Test, dış şirket ağına zarar vermemek için Python sanal ortamında (venv) CLI üzerinden izole şekilde yürütülmüştür.</a:t>
            </a:r>
            <a:endParaRPr/>
          </a:p>
        </p:txBody>
      </p:sp>
      <p:pic>
        <p:nvPicPr>
          <p:cNvPr id="80" name="Google Shape;80;p17" title="Screenshot 2026-07-28 at 2.38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830624" cy="21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Neden Garak Kullanmalıyız?</a:t>
            </a:r>
            <a:endParaRPr sz="2400">
              <a:solidFill>
                <a:srgbClr val="38761D"/>
              </a:solidFill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Sıfır Manuel İş Yükü:</a:t>
            </a:r>
            <a:r>
              <a:rPr lang="en">
                <a:solidFill>
                  <a:schemeClr val="dk1"/>
                </a:solidFill>
              </a:rPr>
              <a:t> Kurumsal yapay zekâ projelerinde güvenlik testlerini otomatikleştirir.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CI/CD Entegrasyonu:</a:t>
            </a:r>
            <a:r>
              <a:rPr lang="en">
                <a:solidFill>
                  <a:schemeClr val="dk1"/>
                </a:solidFill>
              </a:rPr>
              <a:t> Tamamen terminal (CLI) tabanlı olduğu için DevOps boru hatlarına (pipelines) doğrudan eklenebilir(as a devops intern) 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Dağıtım Öncesi Güvenlik:</a:t>
            </a:r>
            <a:r>
              <a:rPr lang="en">
                <a:solidFill>
                  <a:schemeClr val="dk1"/>
                </a:solidFill>
              </a:rPr>
              <a:t> Geliştirdiğimiz herhangi bir AI/LLM aracı, canlı ortama (production) alınmadan önce Garak tarafından otomatik olarak onaydan geçirilebilir.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